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noFill/>
          <a:ln w="19050">
            <a:solidFill>
              <a:srgbClr val="3C6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BED7F5"/>
                </a:solidFill>
                <a:latin typeface="Arial"/>
              </a:defRPr>
            </a:pPr>
            <a:r>
              <a:t>الجمهورية اليمنية — وزارة التعليم العالي والبحث العلمي</a:t>
            </a:r>
            <a:br/>
            <a:r>
              <a:t>جامعة إب — كلية الحاسبات والعلوم التطبيقية — قسم علوم الحاسوب وتقنية المعلومات</a:t>
            </a:r>
          </a:p>
          <a:p>
            <a:br/>
            <a:pPr algn="ctr">
              <a:defRPr sz="1500" b="1">
                <a:solidFill>
                  <a:srgbClr val="DCEBFF"/>
                </a:solidFill>
                <a:latin typeface="Arial"/>
              </a:defRPr>
            </a:pPr>
            <a:r>
              <a:t>مشروع مساق بناء المترجمات (CS 351)</a:t>
            </a:r>
          </a:p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تصميم وبناء مترجم لغة البرمجة العربية ومحرر الأكواد بلغة C++</a:t>
            </a:r>
          </a:p>
          <a:p>
            <a:pPr algn="ctr">
              <a:defRPr sz="1300">
                <a:solidFill>
                  <a:srgbClr val="B4CDEB"/>
                </a:solidFill>
                <a:latin typeface="Arial"/>
              </a:defRPr>
            </a:pPr>
            <a:r>
              <a:t>Arabic Programming Language Compiler and Code Editor in Modern C++20</a:t>
            </a:r>
            <a:br/>
          </a:p>
          <a:p>
            <a:pPr algn="ctr">
              <a:defRPr sz="1350" b="1">
                <a:solidFill>
                  <a:srgbClr val="FFFFFF"/>
                </a:solidFill>
                <a:latin typeface="Arial"/>
              </a:defRPr>
            </a:pPr>
            <a:r>
              <a:t>إعداد الطلاب:</a:t>
            </a:r>
            <a:br/>
            <a:r>
              <a:t>1. يعقوب خالد محمد علي المهاجري    |    2. سليمان صالح صالح العربي    |    3. مالك عادل عبده جبران</a:t>
            </a:r>
          </a:p>
          <a:p>
            <a:br/>
            <a:pPr algn="ctr">
              <a:defRPr sz="1400" b="1">
                <a:solidFill>
                  <a:srgbClr val="FFE182"/>
                </a:solidFill>
                <a:latin typeface="Arial"/>
              </a:defRPr>
            </a:pPr>
            <a:r>
              <a:t>إشراف: د. خالد الكسحه</a:t>
            </a:r>
          </a:p>
          <a:p>
            <a:pPr algn="ctr">
              <a:defRPr sz="1150">
                <a:solidFill>
                  <a:srgbClr val="AAC3E1"/>
                </a:solidFill>
                <a:latin typeface="Arial"/>
              </a:defRPr>
            </a:pPr>
            <a:r>
              <a:t>الفصل الدراسي الأول — العام الجامعي 1447هـ (2025 / 2026م)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C2340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0">
                <a:solidFill>
                  <a:srgbClr val="B4CDEB"/>
                </a:solidFill>
                <a:latin typeface="Arial"/>
              </a:defRPr>
            </a:pPr>
            <a:r>
              <a:t>مساق بناء المترجمات (CS 351) — جامعة إب</a:t>
            </a:r>
          </a:p>
          <a:p>
            <a:pPr algn="r">
              <a:defRPr sz="2000" b="1">
                <a:solidFill>
                  <a:srgbClr val="FFFFFF"/>
                </a:solidFill>
                <a:latin typeface="Arial"/>
              </a:defRPr>
            </a:pPr>
            <a:r>
              <a:t>فكرة المشروع وأهدافه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C2340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65392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000">
                <a:solidFill>
                  <a:srgbClr val="C8D7EB"/>
                </a:solidFill>
                <a:latin typeface="Arial"/>
              </a:defRPr>
            </a:pPr>
            <a:r>
              <a:t>كلية الحاسبات والعلوم التطبيقية — قسم علوم الحاسوب وتقنية المعلومات — المجموعة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sz="1600" b="1">
                <a:solidFill>
                  <a:srgbClr val="0C2340"/>
                </a:solidFill>
                <a:latin typeface="Arial"/>
              </a:defRPr>
            </a:pPr>
            <a:r>
              <a:t>1. فكرة المشروع الأساسية</a:t>
            </a:r>
          </a:p>
          <a:p>
            <a:br/>
            <a:pPr algn="r">
              <a:defRPr sz="1300">
                <a:solidFill>
                  <a:srgbClr val="1E293B"/>
                </a:solidFill>
                <a:latin typeface="Arial"/>
              </a:defRPr>
            </a:pPr>
            <a:r>
              <a:t>• تطوير برنامج مترجم متكامل للغة برمجة عالية المستوى باللغة العربية.</a:t>
            </a:r>
            <a:br/>
            <a:br/>
            <a:r>
              <a:t>• استقبال الكود المصدري العربي ومعالجته عبر مراحل الترجمة الست وإنتاج مخرجات حقيقية.</a:t>
            </a:r>
            <a:br/>
            <a:br/>
            <a:r>
              <a:t>• تطوير محرر أكواد مستقل يوفر بيئة تحرير، وحفظ، وتنفيذ، وعرض نتائج المراحل والأخطاء.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120640" cy="47548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sz="1600" b="1">
                <a:solidFill>
                  <a:srgbClr val="0C2340"/>
                </a:solidFill>
                <a:latin typeface="Arial"/>
              </a:defRPr>
            </a:pPr>
            <a:r>
              <a:t>2. أهداف ومعمارية النظام</a:t>
            </a:r>
          </a:p>
          <a:p>
            <a:br/>
            <a:pPr algn="r">
              <a:defRPr sz="1300">
                <a:solidFill>
                  <a:srgbClr val="1E293B"/>
                </a:solidFill>
                <a:latin typeface="Arial"/>
              </a:defRPr>
            </a:pPr>
            <a:r>
              <a:t>• استقلالية البرنامجين: المترجم (CompilerProject_CPP.exe) والمحرر (LanguageEditor.exe) برنامجان منفصلان تماماً.</a:t>
            </a:r>
            <a:br/>
            <a:br/>
            <a:r>
              <a:t>• آلية الاتصال: يستدعي المحرر المترجم عبر سطر الأوامر وتمرير الملف والمعامل --json.</a:t>
            </a:r>
            <a:br/>
            <a:br/>
            <a:r>
              <a:t>• المخرجات الحقيقية: Tokens، شجرة AST، جدول الرموز، الكود الوسيط TAC، لغة التجميع x86، والتنفيذ الفعلي.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C2340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0">
                <a:solidFill>
                  <a:srgbClr val="B4CDEB"/>
                </a:solidFill>
                <a:latin typeface="Arial"/>
              </a:defRPr>
            </a:pPr>
            <a:r>
              <a:t>مساق بناء المترجمات (CS 351) — جامعة إب</a:t>
            </a:r>
          </a:p>
          <a:p>
            <a:pPr algn="r">
              <a:defRPr sz="2000" b="1">
                <a:solidFill>
                  <a:srgbClr val="FFFFFF"/>
                </a:solidFill>
                <a:latin typeface="Arial"/>
              </a:defRPr>
            </a:pPr>
            <a:r>
              <a:t>لغة البرمجة والأدوات المستخدمة في المشروع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C2340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65392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000">
                <a:solidFill>
                  <a:srgbClr val="C8D7EB"/>
                </a:solidFill>
                <a:latin typeface="Arial"/>
              </a:defRPr>
            </a:pPr>
            <a:r>
              <a:t>كلية الحاسبات والعلوم التطبيقية — قسم علوم الحاسوب وتقنية المعلومات — المجموعة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A4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sz="1500" b="1">
                <a:solidFill>
                  <a:srgbClr val="0C2340"/>
                </a:solidFill>
                <a:latin typeface="Arial"/>
              </a:defRPr>
            </a:pPr>
            <a:r>
              <a:t>لغة المترجم الأساسية</a:t>
            </a:r>
          </a:p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Modern C++20 (ISO/IEC 14882:2020)</a:t>
            </a:r>
            <a:br/>
            <a:r>
              <a:t>استخدام أحدث معايير لغة C++ لمعالجة النصوص وإدارة الذاكرة بكفاءة وأمان.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A4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sz="1500" b="1">
                <a:solidFill>
                  <a:srgbClr val="0C2340"/>
                </a:solidFill>
                <a:latin typeface="Arial"/>
              </a:defRPr>
            </a:pPr>
            <a:r>
              <a:t>بيئة المجمع والترجمة</a:t>
            </a:r>
          </a:p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Microsoft Visual C++ (MSVC 19.30) / GCC 11+</a:t>
            </a:r>
            <a:br/>
            <a:r>
              <a:t>بناء وتجميع المترجم كملف تنفيذي مستقل 64-بت فائق السرعة.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521208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A4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sz="1500" b="1">
                <a:solidFill>
                  <a:srgbClr val="0C2340"/>
                </a:solidFill>
                <a:latin typeface="Arial"/>
              </a:defRPr>
            </a:pPr>
            <a:r>
              <a:t>المكتبات القياسية (STL)</a:t>
            </a:r>
          </a:p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C++ Standard Template Library</a:t>
            </a:r>
            <a:br/>
            <a:r>
              <a:t>استخدام هياكل std::vector, std::unordered_map, std::shared_ptr, std::string.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840480"/>
            <a:ext cx="521208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A4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sz="1500" b="1">
                <a:solidFill>
                  <a:srgbClr val="0C2340"/>
                </a:solidFill>
                <a:latin typeface="Arial"/>
              </a:defRPr>
            </a:pPr>
            <a:r>
              <a:t>بناء يدوي 100%</a:t>
            </a:r>
          </a:p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خلو المترجم من الأدوات الجاهزة (Zero External Generators)</a:t>
            </a:r>
            <a:br/>
            <a:r>
              <a:t>تمت كتابة المحلل المعجمي والنحوي والدلالي يدوياً بالكامل دون Lex أو Yacc.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C2340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0">
                <a:solidFill>
                  <a:srgbClr val="B4CDEB"/>
                </a:solidFill>
                <a:latin typeface="Arial"/>
              </a:defRPr>
            </a:pPr>
            <a:r>
              <a:t>مساق بناء المترجمات (CS 351) — جامعة إب</a:t>
            </a:r>
          </a:p>
          <a:p>
            <a:pPr algn="r">
              <a:defRPr sz="2000" b="1">
                <a:solidFill>
                  <a:srgbClr val="FFFFFF"/>
                </a:solidFill>
                <a:latin typeface="Arial"/>
              </a:defRPr>
            </a:pPr>
            <a:r>
              <a:t>المعمارية العامة ومسار تدفق مراحل المترجم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C2340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65392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000">
                <a:solidFill>
                  <a:srgbClr val="C8D7EB"/>
                </a:solidFill>
                <a:latin typeface="Arial"/>
              </a:defRPr>
            </a:pPr>
            <a:r>
              <a:t>كلية الحاسبات والعلوم التطبيقية — قسم علوم الحاسوب وتقنية المعلومات — المجموعة 20</a:t>
            </a:r>
          </a:p>
        </p:txBody>
      </p:sp>
      <p:pic>
        <p:nvPicPr>
          <p:cNvPr id="6" name="Picture 5" descr="g20_fig01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6583680" cy="322022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89520" y="1325880"/>
            <a:ext cx="38404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sz="1500" b="1">
                <a:solidFill>
                  <a:srgbClr val="0C2340"/>
                </a:solidFill>
                <a:latin typeface="Arial"/>
              </a:defRPr>
            </a:pPr>
            <a:r>
              <a:t>مراحل المعالجة في المترجم:</a:t>
            </a:r>
          </a:p>
          <a:p>
            <a:br/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1. التحليل المعجمي (Lexer):</a:t>
            </a:r>
            <a:br/>
            <a:r>
              <a:t>   قراءة الكود واستخراج تدفق الرموز.</a:t>
            </a:r>
            <a:br/>
            <a:br/>
            <a:r>
              <a:t>2. التحليل النحوي (Parser):</a:t>
            </a:r>
            <a:br/>
            <a:r>
              <a:t>   فحص قواعد BNF وبناء شجرة AST.</a:t>
            </a:r>
            <a:br/>
            <a:br/>
            <a:r>
              <a:t>3. التحليل الدلالي (Semantic Analyzer):</a:t>
            </a:r>
            <a:br/>
            <a:r>
              <a:t>   فحص الأنواع وتعبئة جدول الرموز.</a:t>
            </a:r>
            <a:br/>
            <a:br/>
            <a:r>
              <a:t>4. الكود الوسيط (TAC Generator):</a:t>
            </a:r>
            <a:br/>
            <a:r>
              <a:t>   توليد تعليمات ثلاثية العناوين.</a:t>
            </a:r>
            <a:br/>
            <a:br/>
            <a:r>
              <a:t>5. لغة التجميع (Code Generator):</a:t>
            </a:r>
            <a:br/>
            <a:r>
              <a:t>   توليد كود x86 والتنفيذ المباشر.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C2340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0">
                <a:solidFill>
                  <a:srgbClr val="B4CDEB"/>
                </a:solidFill>
                <a:latin typeface="Arial"/>
              </a:defRPr>
            </a:pPr>
            <a:r>
              <a:t>مساق بناء المترجمات (CS 351) — جامعة إب</a:t>
            </a:r>
          </a:p>
          <a:p>
            <a:pPr algn="r">
              <a:defRPr sz="2000" b="1">
                <a:solidFill>
                  <a:srgbClr val="FFFFFF"/>
                </a:solidFill>
                <a:latin typeface="Arial"/>
              </a:defRPr>
            </a:pPr>
            <a:r>
              <a:t>المرحلة الأولى: التحليل المعجمي (Lexical Analysis — Lexer.cpp)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C2340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65392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000">
                <a:solidFill>
                  <a:srgbClr val="C8D7EB"/>
                </a:solidFill>
                <a:latin typeface="Arial"/>
              </a:defRPr>
            </a:pPr>
            <a:r>
              <a:t>كلية الحاسبات والعلوم التطبيقية — قسم علوم الحاسوب وتقنية المعلومات — المجموعة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sz="1500" b="1">
                <a:solidFill>
                  <a:srgbClr val="0C2340"/>
                </a:solidFill>
                <a:latin typeface="Arial"/>
              </a:defRPr>
            </a:pPr>
            <a:r>
              <a:t>خصائص المحلل المعجمي في C++:</a:t>
            </a:r>
          </a:p>
          <a:p>
            <a:br/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• الوظيفة: قراءة المحارف وتوليد قائمة كائنات الرموز Token.</a:t>
            </a:r>
            <a:br/>
            <a:br/>
            <a:r>
              <a:t>• تصنيف الرموز:</a:t>
            </a:r>
            <a:br/>
            <a:r>
              <a:t>  - الكلمات المفتاحية (برنامج، متغير، ثابت، اذا..)</a:t>
            </a:r>
            <a:br/>
            <a:r>
              <a:t>  - المعرفات (Identifiers)</a:t>
            </a:r>
            <a:br/>
            <a:r>
              <a:t>  - الأرقام (Numbers)</a:t>
            </a:r>
            <a:br/>
            <a:r>
              <a:t>  - النصوص (Strings)</a:t>
            </a:r>
            <a:br/>
            <a:r>
              <a:t>  - المعاملات والفواصل (Operators &amp; Symbols)</a:t>
            </a:r>
            <a:br/>
            <a:br/>
            <a:r>
              <a:t>• دعم الأرقام المشرقية (٠-٩) وتحويلها إلى نظامية تلقائياً لمنع أخطاء التجميع.</a:t>
            </a:r>
            <a:br/>
            <a:br/>
            <a:r>
              <a:t>• إزالة المسافات البيضاء والتعليقات أحادية ومتعددة الأسطر.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371600"/>
            <a:ext cx="5303520" cy="4846320"/>
          </a:xfrm>
          <a:prstGeom prst="rect">
            <a:avLst/>
          </a:prstGeom>
          <a:solidFill>
            <a:srgbClr val="F5F7FA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100" b="1">
                <a:solidFill>
                  <a:srgbClr val="0C2340"/>
                </a:solidFill>
                <a:latin typeface="Consolas"/>
              </a:defRPr>
            </a:pPr>
            <a:r>
              <a:t>// كود C++: استخراج الأرقام وتحويل الأرقام المشرقية</a:t>
            </a:r>
          </a:p>
          <a:p>
            <a:br/>
            <a:pPr algn="l">
              <a:defRPr sz="1000">
                <a:solidFill>
                  <a:srgbClr val="1E293B"/>
                </a:solidFill>
                <a:latin typeface="Consolas"/>
              </a:defRPr>
            </a:pPr>
            <a:r>
              <a:t>Token Lexer::ReadNumber() {</a:t>
            </a:r>
            <a:br/>
            <a:r>
              <a:t>    int startLine = _line;</a:t>
            </a:r>
            <a:br/>
            <a:r>
              <a:t>    std::string num;</a:t>
            </a:r>
            <a:br/>
            <a:r>
              <a:t>    bool hasDot = false;</a:t>
            </a:r>
            <a:br/>
            <a:br/>
            <a:r>
              <a:t>    while (_pos &lt; _src.size()) {</a:t>
            </a:r>
            <a:br/>
            <a:r>
              <a:t>        char c = Current();</a:t>
            </a:r>
            <a:br/>
            <a:r>
              <a:t>        if (std::isdigit((unsigned char)c)) {</a:t>
            </a:r>
            <a:br/>
            <a:r>
              <a:t>            num += c; Advance();</a:t>
            </a:r>
            <a:br/>
            <a:r>
              <a:t>        } else if (IsEasternDigit(_src.substr(_pos,2))) {</a:t>
            </a:r>
            <a:br/>
            <a:r>
              <a:t>            num += ConvertEastern(_src.substr(_pos,2));</a:t>
            </a:r>
            <a:br/>
            <a:r>
              <a:t>            Advance(2);</a:t>
            </a:r>
            <a:br/>
            <a:r>
              <a:t>        } else if (c == '.' &amp;&amp; !hasDot) {</a:t>
            </a:r>
            <a:br/>
            <a:r>
              <a:t>            hasDot = true; num += '.'; Advance();</a:t>
            </a:r>
            <a:br/>
            <a:r>
              <a:t>        } else break;</a:t>
            </a:r>
            <a:br/>
            <a:r>
              <a:t>    }</a:t>
            </a:r>
            <a:br/>
            <a:r>
              <a:t>    return Token(num, TokenType::Number, startLine);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C2340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0">
                <a:solidFill>
                  <a:srgbClr val="B4CDEB"/>
                </a:solidFill>
                <a:latin typeface="Arial"/>
              </a:defRPr>
            </a:pPr>
            <a:r>
              <a:t>مساق بناء المترجمات (CS 351) — جامعة إب</a:t>
            </a:r>
          </a:p>
          <a:p>
            <a:pPr algn="r">
              <a:defRPr sz="2000" b="1">
                <a:solidFill>
                  <a:srgbClr val="FFFFFF"/>
                </a:solidFill>
                <a:latin typeface="Arial"/>
              </a:defRPr>
            </a:pPr>
            <a:r>
              <a:t>المرحلة الثانية: التحليل النحوي وبناء شجرة الإعراب (Parser.cpp)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C2340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65392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000">
                <a:solidFill>
                  <a:srgbClr val="C8D7EB"/>
                </a:solidFill>
                <a:latin typeface="Arial"/>
              </a:defRPr>
            </a:pPr>
            <a:r>
              <a:t>كلية الحاسبات والعلوم التطبيقية — قسم علوم الحاسوب وتقنية المعلومات — المجموعة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sz="1500" b="1">
                <a:solidFill>
                  <a:srgbClr val="0C2340"/>
                </a:solidFill>
                <a:latin typeface="Arial"/>
              </a:defRPr>
            </a:pPr>
            <a:r>
              <a:t>منهجية التحليل النحوي وبناء شجرة AST:</a:t>
            </a:r>
          </a:p>
          <a:p>
            <a:br/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• الخوارزمية: الإعراب التنازلي العودي التنبؤي (Recursive Descent Parsing).</a:t>
            </a:r>
            <a:br/>
            <a:br/>
            <a:r>
              <a:t>• تمثيل الشجرة: شجرة إعراب مجردة (AST) باستخدام عقد Node ومؤشرات ذكية std::shared_ptr.</a:t>
            </a:r>
            <a:br/>
            <a:br/>
            <a:r>
              <a:t>• القواعد النحوية المنفذة:</a:t>
            </a:r>
            <a:br/>
            <a:r>
              <a:t>  - ترويسة البرنامج والكتل البرمجية { .. } .</a:t>
            </a:r>
            <a:br/>
            <a:r>
              <a:t>  - الإعلانات (ثابت، متغير، نوع، اجراء).</a:t>
            </a:r>
            <a:br/>
            <a:r>
              <a:t>  - الجمل الشرطية (اذا .. فان .. والا).</a:t>
            </a:r>
            <a:br/>
            <a:r>
              <a:t>  - حلقات التكرار (كرر، طالما، اعد حتى).</a:t>
            </a:r>
            <a:br/>
            <a:r>
              <a:t>  - التعبيرات الحسابية والمنطقية وأسبقية العمليات.</a:t>
            </a:r>
            <a:br/>
            <a:br/>
            <a:r>
              <a:t>• كشف الأخطاء النحوية فوراً وتحديد رقم السطر.</a:t>
            </a:r>
          </a:p>
        </p:txBody>
      </p:sp>
      <p:pic>
        <p:nvPicPr>
          <p:cNvPr id="7" name="Picture 6" descr="g20_screen04_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463040"/>
            <a:ext cx="5303520" cy="26776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C2340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0">
                <a:solidFill>
                  <a:srgbClr val="B4CDEB"/>
                </a:solidFill>
                <a:latin typeface="Arial"/>
              </a:defRPr>
            </a:pPr>
            <a:r>
              <a:t>مساق بناء المترجمات (CS 351) — جامعة إب</a:t>
            </a:r>
          </a:p>
          <a:p>
            <a:pPr algn="r">
              <a:defRPr sz="2000" b="1">
                <a:solidFill>
                  <a:srgbClr val="FFFFFF"/>
                </a:solidFill>
                <a:latin typeface="Arial"/>
              </a:defRPr>
            </a:pPr>
            <a:r>
              <a:t>المرحلة الثالثة: جدول الرموز والتحليل الدلالي (Semantic Analysis)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C2340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65392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000">
                <a:solidFill>
                  <a:srgbClr val="C8D7EB"/>
                </a:solidFill>
                <a:latin typeface="Arial"/>
              </a:defRPr>
            </a:pPr>
            <a:r>
              <a:t>كلية الحاسبات والعلوم التطبيقية — قسم علوم الحاسوب وتقنية المعلومات — المجموعة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sz="1500" b="1">
                <a:solidFill>
                  <a:srgbClr val="0C2340"/>
                </a:solidFill>
                <a:latin typeface="Arial"/>
              </a:defRPr>
            </a:pPr>
            <a:r>
              <a:t>وظائف التحليل الدلالي وجدول الرموز:</a:t>
            </a:r>
          </a:p>
          <a:p>
            <a:br/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• جدول الرموز (Symbol Table):</a:t>
            </a:r>
            <a:br/>
            <a:r>
              <a:t>  هيكل std::unordered_map يخزن المعرف، نوع البيانات، التصنيف (متغير/ثابت)، سطر التعريف، وأسطر الاستخدام.</a:t>
            </a:r>
            <a:br/>
            <a:br/>
            <a:r>
              <a:t>• الفحوصات الدلالية المطبقة:</a:t>
            </a:r>
            <a:br/>
            <a:r>
              <a:t>  1. كشف المعرفات غير المصرح بها قبل استخدامها.</a:t>
            </a:r>
            <a:br/>
            <a:r>
              <a:t>  2. حظر إعادة تعريف نفس المتغير في نفس النطاق.</a:t>
            </a:r>
            <a:br/>
            <a:r>
              <a:t>  3. حظر تعديل قيم الثوابت بعد الإعلان عنها.</a:t>
            </a:r>
            <a:br/>
            <a:r>
              <a:t>  4. التحقق من توافق أنواع البيانات في الإسناد والعمليات.</a:t>
            </a:r>
            <a:br/>
            <a:br/>
            <a:r>
              <a:t>• في حال وجود خطأ دلالي، يُوقف التوليد وتُعرض الأخطاء.</a:t>
            </a:r>
          </a:p>
        </p:txBody>
      </p:sp>
      <p:pic>
        <p:nvPicPr>
          <p:cNvPr id="7" name="Picture 6" descr="g20_screen05_symtb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011680"/>
            <a:ext cx="5303520" cy="138803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C2340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0">
                <a:solidFill>
                  <a:srgbClr val="B4CDEB"/>
                </a:solidFill>
                <a:latin typeface="Arial"/>
              </a:defRPr>
            </a:pPr>
            <a:r>
              <a:t>مساق بناء المترجمات (CS 351) — جامعة إب</a:t>
            </a:r>
          </a:p>
          <a:p>
            <a:pPr algn="r">
              <a:defRPr sz="2000" b="1">
                <a:solidFill>
                  <a:srgbClr val="FFFFFF"/>
                </a:solidFill>
                <a:latin typeface="Arial"/>
              </a:defRPr>
            </a:pPr>
            <a:r>
              <a:t>المرحلة الرابعة: الشفرة الوسيطة ثلاثية العناوين (Three-Address Code)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C2340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65392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000">
                <a:solidFill>
                  <a:srgbClr val="C8D7EB"/>
                </a:solidFill>
                <a:latin typeface="Arial"/>
              </a:defRPr>
            </a:pPr>
            <a:r>
              <a:t>كلية الحاسبات والعلوم التطبيقية — قسم علوم الحاسوب وتقنية المعلومات — المجموعة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sz="1500" b="1">
                <a:solidFill>
                  <a:srgbClr val="0C2340"/>
                </a:solidFill>
                <a:latin typeface="Arial"/>
              </a:defRPr>
            </a:pPr>
            <a:r>
              <a:t>خصائص توليد الكود الوسيط (TAC):</a:t>
            </a:r>
          </a:p>
          <a:p>
            <a:br/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• الهدف: تحويل الشجرة الهرمية إلى تسلسل خطي مبسط مستقل عن المعمارية.</a:t>
            </a:r>
            <a:br/>
            <a:br/>
            <a:r>
              <a:t>• صيغة التعليمات: لا تحتوي التعليمة الواحدة على أكثر من 3 عناوين (x = y op z).</a:t>
            </a:r>
            <a:br/>
            <a:br/>
            <a:r>
              <a:t>• المتغيرات المؤقتة: توليد تلقائي لمتغيرات متسلسلة (t1, t2, t3..).</a:t>
            </a:r>
            <a:br/>
            <a:br/>
            <a:r>
              <a:t>• ملصقات القفز (Labels): توليد ملصقات متسلسلة (L1, L2..) للقفز الشرطى وغير الشرطي.</a:t>
            </a:r>
            <a:br/>
            <a:br/>
            <a:r>
              <a:t>• تحويل تراكيب الحلقات والجمل الشرطية إلى اختبارات قفز معيارية.</a:t>
            </a:r>
          </a:p>
        </p:txBody>
      </p:sp>
      <p:pic>
        <p:nvPicPr>
          <p:cNvPr id="7" name="Picture 6" descr="g20_screen06_t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463040"/>
            <a:ext cx="5303520" cy="27035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C2340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0">
                <a:solidFill>
                  <a:srgbClr val="B4CDEB"/>
                </a:solidFill>
                <a:latin typeface="Arial"/>
              </a:defRPr>
            </a:pPr>
            <a:r>
              <a:t>مساق بناء المترجمات (CS 351) — جامعة إب</a:t>
            </a:r>
          </a:p>
          <a:p>
            <a:pPr algn="r">
              <a:defRPr sz="2000" b="1">
                <a:solidFill>
                  <a:srgbClr val="FFFFFF"/>
                </a:solidFill>
                <a:latin typeface="Arial"/>
              </a:defRPr>
            </a:pPr>
            <a:r>
              <a:t>المرحلة الخامسة والسادسة: توليد لغة التجميع والتنفيذ (Assembly &amp; Exec)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C2340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65392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000">
                <a:solidFill>
                  <a:srgbClr val="C8D7EB"/>
                </a:solidFill>
                <a:latin typeface="Arial"/>
              </a:defRPr>
            </a:pPr>
            <a:r>
              <a:t>كلية الحاسبات والعلوم التطبيقية — قسم علوم الحاسوب وتقنية المعلومات — المجموعة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sz="1500" b="1">
                <a:solidFill>
                  <a:srgbClr val="0C2340"/>
                </a:solidFill>
                <a:latin typeface="Arial"/>
              </a:defRPr>
            </a:pPr>
            <a:r>
              <a:t>توليد كود x86 والتنفيذ الفعلي:</a:t>
            </a:r>
          </a:p>
          <a:p>
            <a:br/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• توليد كود لغة التجميع (x86 Assembly):</a:t>
            </a:r>
            <a:br/>
            <a:r>
              <a:t>  - تحويل تعليمات TAC إلى أوامر المعالج Intel x86 (MOV, ADD, SUB, IMUL, CMP, JNE, JMP).</a:t>
            </a:r>
            <a:br/>
            <a:r>
              <a:t>  - تخصيص المتغيرات في قسم البيانات .data.</a:t>
            </a:r>
            <a:br/>
            <a:br/>
            <a:r>
              <a:t>• مفسر الكود الوسيط (TAC Interpreter):</a:t>
            </a:r>
            <a:br/>
            <a:r>
              <a:t>  - مفسر مدمج في C++ لتنفيذ التعليمات والحسابات لحظياً وطباعة المخرجات.</a:t>
            </a:r>
            <a:br/>
            <a:br/>
            <a:r>
              <a:t>• تشغيل البرامج وعرض النتائج ومخرجات الكونسول في واجهة المحرر.</a:t>
            </a:r>
          </a:p>
        </p:txBody>
      </p:sp>
      <p:pic>
        <p:nvPicPr>
          <p:cNvPr id="7" name="Picture 6" descr="g20_screen07_a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011680"/>
            <a:ext cx="5303520" cy="72509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C2340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0">
                <a:solidFill>
                  <a:srgbClr val="B4CDEB"/>
                </a:solidFill>
                <a:latin typeface="Arial"/>
              </a:defRPr>
            </a:pPr>
            <a:r>
              <a:t>مساق بناء المترجمات (CS 351) — جامعة إب</a:t>
            </a:r>
          </a:p>
          <a:p>
            <a:pPr algn="r">
              <a:defRPr sz="2000" b="1">
                <a:solidFill>
                  <a:srgbClr val="FFFFFF"/>
                </a:solidFill>
                <a:latin typeface="Arial"/>
              </a:defRPr>
            </a:pPr>
            <a:r>
              <a:t>محرر لغة البرمجة وبيئة التطوير المستقلة (Language Editor)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C2340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65392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000">
                <a:solidFill>
                  <a:srgbClr val="C8D7EB"/>
                </a:solidFill>
                <a:latin typeface="Arial"/>
              </a:defRPr>
            </a:pPr>
            <a:r>
              <a:t>كلية الحاسبات والعلوم التطبيقية — قسم علوم الحاسوب وتقنية المعلومات — المجموعة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sz="1500" b="1">
                <a:solidFill>
                  <a:srgbClr val="0C2340"/>
                </a:solidFill>
                <a:latin typeface="Arial"/>
              </a:defRPr>
            </a:pPr>
            <a:r>
              <a:t>خصائص محرر الأكواد:</a:t>
            </a:r>
          </a:p>
          <a:p>
            <a:br/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• إدارة الملفات: إنشاء ملف جديد، فتح ملف كود عربي (.arb)، حفظ، وحفظ باسم.</a:t>
            </a:r>
            <a:br/>
            <a:br/>
            <a:r>
              <a:t>• التحرير العربي: اتجاه النصوص من اليمين إلى اليسار (RTL) مع شريط ترقيم أسطر ذكي.</a:t>
            </a:r>
            <a:br/>
            <a:br/>
            <a:r>
              <a:t>• استدعاء مترجم C++ المستقل وتمرير الكود واستقبال النتائج عبر JSON.</a:t>
            </a:r>
            <a:br/>
            <a:br/>
            <a:r>
              <a:t>• عرض نتائج مراحل الترجمة في تبويبات مخصصة (Tokens, AST, Symbol Table, TAC, x86, Errors).</a:t>
            </a:r>
            <a:br/>
            <a:br/>
            <a:r>
              <a:t>• تشغيل البرنامج وعرض مخرجات الطباعة الحقيقية.</a:t>
            </a:r>
          </a:p>
        </p:txBody>
      </p:sp>
      <p:pic>
        <p:nvPicPr>
          <p:cNvPr id="7" name="Picture 6" descr="g20_screen01_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463040"/>
            <a:ext cx="5303520" cy="338720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C2340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0">
                <a:solidFill>
                  <a:srgbClr val="B4CDEB"/>
                </a:solidFill>
                <a:latin typeface="Arial"/>
              </a:defRPr>
            </a:pPr>
            <a:r>
              <a:t>مساق بناء المترجمات (CS 351) — جامعة إب</a:t>
            </a:r>
          </a:p>
          <a:p>
            <a:pPr algn="r">
              <a:defRPr sz="2000" b="1">
                <a:solidFill>
                  <a:srgbClr val="FFFFFF"/>
                </a:solidFill>
                <a:latin typeface="Arial"/>
              </a:defRPr>
            </a:pPr>
            <a:r>
              <a:t>حزمة البرامج الاختبارية المعتمدة (11 سيناريو اختباري)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C2340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65392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000">
                <a:solidFill>
                  <a:srgbClr val="C8D7EB"/>
                </a:solidFill>
                <a:latin typeface="Arial"/>
              </a:defRPr>
            </a:pPr>
            <a:r>
              <a:t>كلية الحاسبات والعلوم التطبيقية — قسم علوم الحاسوب وتقنية المعلومات — المجموعة 20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3291840"/>
                <a:gridCol w="3962095"/>
                <a:gridCol w="2743200"/>
              </a:tblGrid>
              <a:tr h="79248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اسم ملف الاختبار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القواعد اللغوية المختبرة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حالة النتيجة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1-2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01_المتغيرات و 02_العمليات المنطقية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الثوابت، المتغيرات، أسبقية العمليات (+,-,*,/), المقارنات والروابط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نجاح الترجمة والحساب السليم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3-4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03_الجمل الشرطية و 04_حلقة كرر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تراكيب الشروط المتعددة (اذا..فان..والا) وحلقات التكرار محددة المدى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توليد قفزات وحلقات صحيحة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5-6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05_حلقة طالما و 06_حلقة اعد حتى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حلقات الفحص المسبق (طالما) واللاحق (اعد حتى) والعد التنازلي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تنفيذ الشروط والقفز بدقة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7-8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07_المصفوفات و 08_البرنامج العام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الأنواع المركبة (قائمة، سجل) ودمج كافة القواعد اللغوية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توثيق الرموز والتنفيذ التام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9-10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09_الأخطاء النحوية و 10_الأخطاء الدلالية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تعمد فواصل ناقصة، متغيرات غير معلنة، وتعديل قيم الثوابت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رصد الأخطاء وتحديد السطر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C2340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0">
                <a:solidFill>
                  <a:srgbClr val="B4CDEB"/>
                </a:solidFill>
                <a:latin typeface="Arial"/>
              </a:defRPr>
            </a:pPr>
            <a:r>
              <a:t>مساق بناء المترجمات (CS 351) — جامعة إب</a:t>
            </a:r>
          </a:p>
          <a:p>
            <a:pPr algn="r">
              <a:defRPr sz="2000" b="1">
                <a:solidFill>
                  <a:srgbClr val="FFFFFF"/>
                </a:solidFill>
                <a:latin typeface="Arial"/>
              </a:defRPr>
            </a:pPr>
            <a:r>
              <a:t>الخلاصة والنتائج المحققة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C2340"/>
          </a:solidFill>
          <a:ln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565392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000">
                <a:solidFill>
                  <a:srgbClr val="C8D7EB"/>
                </a:solidFill>
                <a:latin typeface="Arial"/>
              </a:defRPr>
            </a:pPr>
            <a:r>
              <a:t>كلية الحاسبات والعلوم التطبيقية — قسم علوم الحاسوب وتقنية المعلومات — المجموعة 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371600"/>
            <a:ext cx="9448495" cy="47548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A4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>
              <a:defRPr sz="1700" b="1">
                <a:solidFill>
                  <a:srgbClr val="0C2340"/>
                </a:solidFill>
                <a:latin typeface="Arial"/>
              </a:defRPr>
            </a:pPr>
            <a:r>
              <a:t>أبرز النتائج والمخرجات المحققة في المشروع:</a:t>
            </a:r>
          </a:p>
          <a:p>
            <a:br/>
            <a:pPr algn="r">
              <a:defRPr sz="1300">
                <a:solidFill>
                  <a:srgbClr val="1E293B"/>
                </a:solidFill>
                <a:latin typeface="Arial"/>
              </a:defRPr>
            </a:pPr>
            <a:r>
              <a:t>1. إنجاز مترجم لغة عربية متكامل وفق معايير Modern C++20 يعمل بأعلى كفاءة وسرعة.</a:t>
            </a:r>
            <a:br/>
            <a:br/>
            <a:r>
              <a:t>2. تحقيق الاستقلالية التامة بين برنامج المترجم ومحرر الأكواد مع اتصال معياري عبر سطر الأوامر ونقل نتائج JSON.</a:t>
            </a:r>
            <a:br/>
            <a:br/>
            <a:r>
              <a:t>3. بناء كافة خوارزميات المترجم من الصفر دون الاعتماد على أدوات توليد آلية.</a:t>
            </a:r>
            <a:br/>
            <a:br/>
            <a:r>
              <a:t>4. توفير بيئة تحرير تفاعلية كاملة تدعم اللغة العربية مع شاشة تشغيل حقيقية وشبكة كشف أخطاء لحظية.</a:t>
            </a:r>
            <a:br/>
            <a:br/>
            <a:r>
              <a:t>5. اجتياز حزمة الاختبارات الـ 11 وتأكيد سلامة معالجة كافة القواعد اللغوية.</a:t>
            </a:r>
            <a:br/>
            <a:br/>
            <a:r>
              <a:t>6. توثيق المشروع وتقديم تقرير مفصل وفق معايير APA 7th Edition.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